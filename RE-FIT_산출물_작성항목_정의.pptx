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754880" cy="4754880"/>
          </a:xfrm>
          <a:prstGeom prst="ellipse">
            <a:avLst/>
          </a:prstGeom>
          <a:solidFill>
            <a:srgbClr val="0E4C5A"/>
          </a:solidFill>
          <a:ln w="12700">
            <a:solidFill>
              <a:srgbClr val="0E4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RE-FIT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28종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항목 정의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· 환자용 앱 · 치료사용 웹  |  각 산출물에 무엇을 넣을지 항목 단위로 분해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5376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4709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43200" y="5376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63440" y="4709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63440" y="5376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문서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1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 — 9단계 28종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표시는 이번에 추가한 산출물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544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199339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시장/기술 동향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설문조사 분석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인터뷰 결과서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5544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56632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199339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요구사항 정의서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유즈케이스 정의서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84464" y="1371600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15544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70264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설계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199339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서비스 구성도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서비스 흐름도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하드웨어 구성도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인터페이스 정의서 ★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2461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246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설계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36850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UI/UX 정의서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메뉴 구성도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화면 설계서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70832" y="3063240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2461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56632" y="3246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기능·데이터 설계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90288" y="36850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엔티티 관계도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기능 처리도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84464" y="3063240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85632" y="32461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70264" y="3246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알고리즘·데이터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03920" y="36850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알고리즘 정의서 ★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알고리즘 명세서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알고리즘 상세 설명서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데이터 수집처리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49377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4937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상세설계·구현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6656" y="537667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하드웨어 설계도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프로그램 목록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테이블 정의서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핵심소스코드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개발 환경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70832" y="4754880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49377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56632" y="4937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검증·시연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90288" y="537667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시험 계획서 ★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S/W 실사 사진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H/W 실사 사진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촬영 콘티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84464" y="4754880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85632" y="49377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85632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970264" y="4937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503920" y="537667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프로젝트 관리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A3A45"/>
          </a:solidFill>
          <a:ln w="12700">
            <a:solidFill>
              <a:srgbClr val="0A3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규약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전 한 번 정하고 28개 문서에 그대로 적용한다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공동 (킥오프에서 확정)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시점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문서 착수 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앞단 3종 — 표지(문서번호·문서명·버전·작성일·작성자), 개정 이력표, 목차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체계 — 접두사와 자릿수, 번호 부여 주체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표기 — 디바이스명 / RE-FIT Play(환자 앱) / RE-FIT Care(치료사 웹)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 통일 — 버스트, 세션, 라운드, M-wave, p2p, A_ref, 자극 주기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파일명 규칙 — 09_인터페이스정의서_v0.1_260819.docx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그림 규칙 — 그림·표 번호 체계, 원본 파일 보관 위치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4937760"/>
          </a:xfrm>
          <a:prstGeom prst="roundRect">
            <a:avLst>
              <a:gd name="adj" fmla="val 1863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체계 (안)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REQ-F-001   기능 요구사항</a:t>
            </a:r>
            <a:endParaRPr lang="en-US" sz="11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REQ-N-001   비기능 요구사항</a:t>
            </a:r>
            <a:endParaRPr lang="en-US" sz="11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           유즈케이스</a:t>
            </a:r>
            <a:endParaRPr lang="en-US" sz="11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F-001            프로그램 모듈</a:t>
            </a:r>
            <a:endParaRPr lang="en-US" sz="11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SC-A-01        앱 화면</a:t>
            </a:r>
            <a:endParaRPr lang="en-US" sz="11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SC-W-01       웹 화면</a:t>
            </a:r>
            <a:endParaRPr lang="en-US" sz="11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T-01              테이블</a:t>
            </a:r>
            <a:endParaRPr lang="en-US" sz="11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ALG-01          알고리즘</a:t>
            </a:r>
            <a:endParaRPr lang="en-US" sz="11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TC-001          시험 케이스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589520" y="4617720"/>
            <a:ext cx="386791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4754880"/>
            <a:ext cx="3502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결정할 것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표기를 “피로도”로 갈지 “반응 저하”로 갈지 택1. 회복 검증 실험 결과에 따라 화면 문구·알고리즘 문서·요구사항이 동시에 바뀐다.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시장/기술 동향 분석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제품이 왜 필요한지에 대한 외부 근거 제시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 — 지금 바로 착수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재활의료·전기자극(FES) 시장 규모와 성장 전망 (국내/해외)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질환 통계 — 척수손상·뇌졸중, 상지 마비 비율, 재활 접근성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 기기 기술 동향 — 채널 수, 자극 방식, 폐루프 제어 여부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근피로 검출 기술 동향 — sEMG 지표, M-wave 기반, 상용화 수준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연구 정리 — 관련 논문 3~5편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제품 벤치마킹표 — 제조사·채널수·EMG 유무·피로 관리·가격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시사점 및 본 과제의 차별점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3093720"/>
          </a:xfrm>
          <a:prstGeom prst="roundRect">
            <a:avLst>
              <a:gd name="adj" fmla="val 2660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과제의 차별점 3가지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무부하 FES 중 M-wave 기반 실시간 피로 추정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신경가소성을 겨냥한 게임화 (큐 선행 설계)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치료사 원격 모니터링과 원격 중단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참고문헌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et al., Sensors (2024) — FES-sEMGNet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 근거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설문조사 분석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요구사항의 정량적 출처 확보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 — 섭외 최우선 착수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개요 — 목적, 대상, 표본 수, 기간, 방법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설문 문항 설계 및 문항표 (원본은 부록)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응답자 특성 — 인구통계, 재활 경험 기간, 사용 중인 기기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문항별 결과 — 그래프와 수치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분석 — 환자군 vs 치료사군 인식 차이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발견 3~5개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후보 도출표 — 발견 → REQ 후보 ID 매핑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3444240"/>
          </a:xfrm>
          <a:prstGeom prst="roundRect">
            <a:avLst>
              <a:gd name="adj" fmla="val 2389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꼭 넣을 문항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71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현재 재활 빈도와 중단 사유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지속을 방해하는 요인 (지루함·통증·이동)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(치료사) 피로를 무엇으로 판단하는가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자극 강도를 올리고 내리는 기준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원격 모니터링 필요성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기기 착용·부착의 부담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섭외에 시간이 걸린다. 문서 작업과 무관하게 첫날 연락을 시작한다.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 근거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인터뷰 결과서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설문으로 잡히지 않는 맥락과 현장의 언어 확보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인터뷰 개요 — 대상 선정 기준, 일시, 방식, 소요 시간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질문지 (반구조화 문항)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대상자 프로파일 — 치료사 2~3인 / 환자·보호자 2~3인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인터뷰별 요약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주제별 코딩 — 여러 사람에게서 반복된 발언 묶기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도출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후보 도출표 → REQ 매핑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(부록) 녹취 요약 또는 발언 인용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3169920"/>
          </a:xfrm>
          <a:prstGeom prst="roundRect">
            <a:avLst>
              <a:gd name="adj" fmla="val 2596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세션을 중단하는 실제 이유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“오늘 무리했다”를 어떻게 아는가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강도를 올리고 내리는 판단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세션 후 무엇을 기록하는가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데이터로 보고 싶은 것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현장에서 쓰는 표현을 그대로 옮겨 적는다. 화면 문구(마이크로카피)의 재료가 된다.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 근거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만들 것을 확정하고 이후 모든 문서의 기준점을 만든다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1, 2, 3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 — 요구사항 수집 방법과 출처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범위 정의 — 디바이스 / 앱 / 웹 / 백엔드 경계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요구사항 REQ-F — 대상 시스템, 우선순위(M/S/C), 출처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비기능 요구사항 REQ-N — 성능·신뢰성·사용성·안전·보안·호환성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 사항 — 하드웨어·통신 제약, 인허가 범위(연구·시험 한정)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추적표(RTM) — REQ → UC → F → SC → T → ALG → TC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외 항목 — 손가락 개별 제어, 다채널, 하지 적용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3291840"/>
          </a:xfrm>
          <a:prstGeom prst="roundRect">
            <a:avLst>
              <a:gd name="adj" fmla="val 2500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요구사항 예시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자극 1버스트당 M-wave p2p 1값 산출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피로도 갱신 지연 1버스트 이내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운동 의도 큐를 자극보다 300ms 선행, 오차 ±100ms 이내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신뢰도(events/burst ≥ 10) 미달 시 게이지 표시 보류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자동 종료 3중 — 적응형 baseline / 성공률 40% 하락 / 15분 상한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원격 중단 명령은 전달 상태를 4단계로 표시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요구사항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유즈케이스 정의서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요구사항을 사용자 행위 단위로 번역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액터 정의 — 환자, 보호자, 치료사, 관리자, 디바이스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유즈케이스 다이어그램 (앱 / 웹)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유즈케이스 목록표 — UC-ID / 명칭 / 주액터 / 관련 REQ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UC별 명세 — 사전조건 / 기본 흐름 / 대안 흐름 / 예외 흐름 / 사후조건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3629660"/>
          </a:xfrm>
          <a:prstGeom prst="roundRect">
            <a:avLst>
              <a:gd name="adj" fmla="val 2267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목록 (안)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89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  페어링 및 전극 부착 품질 점검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  자극 강도 설정 (강도 마법사)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UC-03  세션 시작 및 30초 동기화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UC-04  게임 라운드 수행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UC-05  피로도 표시 및 자동 종료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UC-06  세션 종료 및 결과 요약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UC-07  초대코드로 치료사–환자 연결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UC-08  치료사 실시간 라이브 뷰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UC-09  치료사 원격 중단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UC-10  세션 이력 조회 및 리포트 출력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요구사항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구성도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시스템이 어떤 조각으로 이뤄지고 각자 무엇을 책임지는가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개요도 — 디바이스 ↔ 앱 ↔ 백엔드 ↔ 웹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구성요소별 역할 정의표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흐름 개요 — 원신호 → 앱 계산 → 요약 업로드 → 웹 조회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— MCU, Flutter, 웹 프레임워크, Supabase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구성 — 앱 배포 경로, 웹 호스팅, DB 리전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 명시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545080"/>
          </a:xfrm>
          <a:prstGeom prst="roundRect">
            <a:avLst>
              <a:gd name="adj" fmla="val 323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문서에 명문화할 핵심 원칙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81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“앱은 상태를, 웹은 숫자를.”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파형·RMS·MDF 같은 수치 모니터링은 전부 웹으로 보낸다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피로 게이지 계산은 앱에서 수행한다 — 네트워크가 끊겨도 안전 로직이 동작해야 하기 때문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개념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흐름도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사용자와 데이터가 시간 순으로 어떻게 흐르는가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사용자 여정 — 치료사 가입 → 초대코드 → 환자 연결 → 세션 → 리포트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상세 흐름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종료 경로 3종 — 자동 종료 / 수동 종료 / 치료사 원격 중단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예외 흐름 — 연결 끊김, 신뢰도 미달, 진폭 급등, 배터리, 업로드 실패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전이도 — 세션 상태 머신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다이어그램 — 원격 중단 4단계 상태 회신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895600"/>
          </a:xfrm>
          <a:prstGeom prst="roundRect">
            <a:avLst>
              <a:gd name="adj" fmla="val 2842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상세 흐름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전원 → 페어링 → 부착 점검 → 강도 설정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30초 동기화(튜토리얼 라운드)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본 세션 N라운드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종료 → 업로드 → 요약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진폭 급등은 “피로 급증”이 아니라 “센서 점검”으로 분기시킨다.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개념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구성도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디바이스가 어떤 블록으로 구성되고 신호가 어떻게 흐르는가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블록도 — 전원부 / MCU / FES 자극 출력부 / EMG 계측·증폭·필터부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자극 아티팩트 차단(블랭킹) / BLE / 사용자 인터페이스(버튼·LED)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블록별 사양표 — 자극 파형·주파수·펄스폭·출력 범위, EMG 증폭률·대역·샘플링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 경로 다이어그램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전극 배치도 — 자극 / 계측 / 기준 전극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외관·착용 개념도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관련 회로 개요 — 출력 상한, 이상 시 차단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270760"/>
          </a:xfrm>
          <a:prstGeom prst="roundRect">
            <a:avLst>
              <a:gd name="adj" fmla="val 362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문서의 핵심 도면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자극 인가 시점 대비 블랭킹 구간과 M-wave 측정 창(5~15ms)의 시간 관계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타이밍 도면이 없으면 18번 전처리 파이프라인과 16번 ALG-02를 쓸 수 없다.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개념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정의서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· 앱 · 웹 세 조각의 경계 계약서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서연(소유) + HW + 알고리즘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 8  ·  싱크포인트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목록 — IF-01 BLE / IF-02·03 백엔드 / IF-04 실시간 채널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GATT 명세 — 서비스·특성 UUID표, 읽기/쓰기/알림 권한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패킷 구조 — 헤더, 시퀀스 번호, 타임스탬프, 샘플 배열, 체크섬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전송 규격 — 샘플링레이트, 패킷 주기, MTU, 유실·순서역전, 재연결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명령 세트 / 상태·에러 코드표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 동기 규약 — 오프셋 보정 방법, 보정 주기, 허용 오차 ±100ms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명세 — 엔드포인트, 스키마, 인증, 에러 응답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채널 정의 — 라이브 뷰 페이로드, 원격 중단 4단계 상태 전이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버전 관리 정책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819400"/>
          </a:xfrm>
          <a:prstGeom prst="roundRect">
            <a:avLst>
              <a:gd name="adj" fmla="val 2919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반드시 명시할 제약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자극 트리거 신호는 디바이스에서 송신하지 않는다.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따라서 앱이 원신호에서 자극 주기를 자가 추정한다 (→ ALG-05).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한 줄이 없으면 16번 알고리즘 명세서가 성립하지 않는다.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개념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정의서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화면을 그리기 전에 지켜야 할 규칙을 먼저 정한다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5, 7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원칙 3~5개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 사용자 특성과 조작 제약 — 완전마비 환자는 손 조작이 불가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조작 주체는 보호자·치료사, 환자는 화면을 보고 의도만 낸다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컬러 시스템 / 타이포그래피 / 아이콘 / 그리드·간격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컴포넌트 — 버튼, 카드, 상태 배지, 알림, 모달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표현 규칙 — 정상 / 주의(신뢰도 미달·부착 불량) / 중단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접근성 — 글자 크기, 명도 대비, 터치 타깃, 소리·진동 피드백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앱과 웹의 톤 차이 — 앱은 게임·단순, 웹은 도구·정보 밀도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270760"/>
          </a:xfrm>
          <a:prstGeom prst="roundRect">
            <a:avLst>
              <a:gd name="adj" fmla="val 362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포인트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앱에는 파형과 수치를 두지 않는다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피로는 별도 게이지 은유 없이 “손이 잘 안 쥐어짐”이라는 게임 내 결과로 표현한다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운동 의도 큐는 자극보다 300ms 선행한다 — 신경가소성 성립 조건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UI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구성도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앱과 웹의 정보구조를 확정하고 화면 ID를 부여한다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정보구조(IA) 트리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정보구조(IA) 트리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ID 부여 — SC-A-xx(앱) / SC-W-xx(웹)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네비게이션 규칙 — 진입 경로, 뒤로가기, 세션 중 이탈 제한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권한별 접근 범위 — 환자 / 보호자 / 치료사 / 관리자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270760"/>
          </a:xfrm>
          <a:prstGeom prst="roundRect">
            <a:avLst>
              <a:gd name="adj" fmla="val 362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 나오는 것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ID 전체 목록.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12번 화면 설계서, 25번 실사 사진, 24번 시험 케이스가 모두 이 ID를 그대로 쓴다. 여기서 한 번 정하면 뒤에서 바뀌지 않는다.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UI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설계서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화면마다 무엇을 보여주고 무엇을 할 수 있는가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  (2패스)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 13  ·  싱크포인트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목록표 — SC-ID / 화면명 / 관련 UC / 관련 REQ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화면별 상세 — 와이어프레임 + 영역 설명 + 표시 데이터 항목(→ T-xx 매핑)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사용자 액션 + 화면 전이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상태별 화면 변화 — 정상 / 로딩 / 에러 / 신뢰도 미달 / 오프라인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유효성 규칙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문구 정의 (마이크로카피)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화면 — 연결, 부착 점검, 강도 설정, 동기화, 게임, 일시정지, 종료 요약, 이력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화면 — 로그인, 환자 목록, 환자 상세, 세션 상세, 라이브 뷰, 리포트, 초대코드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743200"/>
          </a:xfrm>
          <a:prstGeom prst="roundRect">
            <a:avLst>
              <a:gd name="adj" fmla="val 3000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2패스 원칙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 와이어프레임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 13번 ERD 확정 후, 표시 항목을 컬럼과 대조하여 확정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화면에 있는데 DB에 없는 값, DB에 있는데 아무도 안 쓰는 컬럼을 여기서 잡아낸다. = 설계 동결 지점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UI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엔티티 관계도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저장할 데이터의 개념 구조를 확정한다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알고리즘·데이터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 12(1차)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ERD (다이어그램)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엔티티 목록 및 정의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관계와 카디널리티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식별자 정책 — UUID 사용, 환자 식별의 가명 처리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시계열 데이터 저장 전략 — 버스트 원자료를 저장할지, 집계만 저장할지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보관·삭제 정책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3215640"/>
          </a:xfrm>
          <a:prstGeom prst="roundRect">
            <a:avLst>
              <a:gd name="adj" fmla="val 2559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엔티티 (안)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48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· patient · invite_code · device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· burst_metric · session_summary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event_log · remote_command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세션당 약 340버스트가 생긴다. 원자료를 전부 올릴지 집계만 올릴지가 이 문서의 최대 결정 사항.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기능·데이터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처리도 (기능 흐름도)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기능을 모듈 단위로 쪼개고 처리 흐름을 그린다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담당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9, 12, 13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분해도 — 시스템 → 서브시스템 → 모듈 → 기능(F-ID)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기능별 처리 흐름도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간 호출 관계도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머신 — 연결 상태 / 세션 상태 / 자극 상태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예외 처리 흐름 — 연결 끊김, 데이터 유실, 명령 실패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↔ 요구사항 매핑표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270760"/>
          </a:xfrm>
          <a:prstGeom prst="roundRect">
            <a:avLst>
              <a:gd name="adj" fmla="val 362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 F-ID가 확정된다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20번 프로그램 목록, 22번 핵심소스코드, 24번 시험 케이스가 이 F-ID를 그대로 참조한다.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머신 3종을 빠뜨리지 말 것 — 예외 흐름 문서의 근거가 된다.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기능·데이터 설계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정의서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시스템에 들어가는 알고리즘의 전체 지도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0단계 공통 규약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목록표 — ALG-ID / 명칭 / 적용 위치 / 목적 / 입력 / 출력 / 실행 주기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간 데이터 파이프라인 다이어그램 — 원신호부터 화면 표시까지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총괄표 — 전 알고리즘 파라미터를 한 표에 모아 관리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신뢰도·예외 정책 개요 — 어떤 조건에서 결과를 신뢰하지 않는가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3477260"/>
          </a:xfrm>
          <a:prstGeom prst="roundRect">
            <a:avLst>
              <a:gd name="adj" fmla="val 2367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목록 (안)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7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ALG-01  버스트 검출 — 임계 + 불응기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ALG-02  M-wave 추출 — 5~15ms 창, p2p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ALG-03  이상치 필터 — Hampel(k=7, 3σ)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ALG-04  기준진폭·피로도 산출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ALG-05  자극 주기 추정·위상 고정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ALG-06  수축 성공 판정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ALG-07  자동 종료 판정 — 3중 조건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ALG-08  신뢰도 게이팅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알고리즘·데이터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명세서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구현자가 이 문서만 보고 코드를 쓸 수 있는 계약서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15, 18, 9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데이터 규격 — 배열 형태, 단위, 전제 조건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표 — 이름 / 기본값 / 허용 범위 / 근거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절차 (의사코드)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정의 — 값 범위, 갱신 주기, 결측 시 반환값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경계·예외 조건 — warmup 구간, 데이터 부족, 클램프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연산량·실행 주기 — 실시간 처리 가능성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방법 — 맞게 동작하는지 확인하는 절차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위 7개를 ALG-01 ~ ALG-08 각각에 대해 반복한다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4488180"/>
          </a:xfrm>
          <a:prstGeom prst="roundRect">
            <a:avLst>
              <a:gd name="adj" fmla="val 1863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명세에 반드시 들어갈 정의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3756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피로도% = 100 × (1 − 평활(p2p 5~15ms) / A_ref)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A_ref  = moving-median(41) p2p의 95퍼센타일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 = Hampel(k=7, 3σ)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후처리 = post-peak, clamp ≥ 0, warmup 0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지속성 = min_run 8버스트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게이팅 = events/burst ≥ 10 미달 시 보류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   = 32초 내 30%p 급등 → 센서 점검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종료   = 적응형 + 성공률 40%↓ + 15분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미결 — ALG-05 드리프트 보정 주기는 실측 후 확정. 빈칸으로 두지 말 것.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알고리즘·데이터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상세 설명서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“왜 이 방식인가”에 답하는 문서 — 심사 질문이 가장 많이 나오는 장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이론 — FES 유발 M-wave와 근피로, 무부하 조건의 특수성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지표 선정 근거 — 왜 진폭(p2p)인가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후 기각한 대안과 근거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선정 실험 — Hampel 적용 전후 비교 등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결과 — 88세션 / 29,611버스트 전수 분석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한계와 향후 과제 — 회복 검증 미완, 환자 간 절대 % 비교 불가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3219450"/>
          </a:xfrm>
          <a:prstGeom prst="roundRect">
            <a:avLst>
              <a:gd name="adj" fmla="val 2556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기각한 대안 5종 (근거와 함께)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487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시간 비례 라벨 — 진폭 비단조, 강세션 역전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진폭-상태 라벨 — 세션 간 전이 불가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HHT 이미지 + CNN — 분리력 RMS 0.51 · p2p 0.44 vs MDF 0.008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형태 특징 — 세션 간 회귀에서 오히려 악화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학습 회귀 — 세션 내 MAE 3~4%지만 세션 간 R² ≈ 0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근거가 이 문서의 가치다.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알고리즘·데이터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수집처리 정의서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알고리즘의 입력 규격을 확정한다 — 집필은 16번보다 먼저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알고리즘·데이터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8, 9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항목 및 규격 — 채널 구성, 샘플링레이트, 분해능, 단위, 측정 범위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절차 — 전극 부착, 기준 측정, 세션 기록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포맷 — 파일·레코드 구조, 필드 정의, 타임스탬프 규약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 파이프라인 — 대역 필터 → 블랭킹 → 에폭 분할 → 영점 보정 → 창 추출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기준 — events/burst ≥ 10, 최소 세션 길이 300초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제외·재측정 기준 — 검출 불량 세션 처리 규칙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저장·전송 정책 — 로컬 버퍼링, 업로드 시점, 재전송, 보관 기간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사전 — 필드별 정의표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545080"/>
          </a:xfrm>
          <a:prstGeom prst="roundRect">
            <a:avLst>
              <a:gd name="adj" fmla="val 323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반드시 넣을 실측 근거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81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영점 창 오염이 실측으로 확인됨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피크 대비 평균 20.2%, 88세션 중 74세션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따라서 전역 영점이 아니라 에폭별 영점 보정이 필수다.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알고리즘·데이터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설계도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만들 수 있는 수준의 도면과 부품 정보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8, 9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회로도 — 전원부 / 자극 출력부 / EMG 계측부 / MCU·통신부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 아트웍 — 레이어별, 실장도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부품표(BOM) — 부품명 / 사양 / 수량 / 단가 / 공급처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기구·케이스 도면, 재질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전극·케이블 사양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조립도 및 조립 순서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사양 요약표 — 크기, 무게, 전원, 동작 시간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설계 항목 — 출력 상한, 절연, 이상 시 차단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1996440"/>
          </a:xfrm>
          <a:prstGeom prst="roundRect">
            <a:avLst>
              <a:gd name="adj" fmla="val 4122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빠뜨리기 쉬운 두 가지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BOM은 단가와 공급처까지 적는다 — 사업화를 언급하는 순간 반드시 묻는다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안전 설계 항목은 별도 절로 뺀다 — 전기자극 장치이므로 심사에서 가장 먼저 확인한다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상세설계·구현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목록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소프트웨어의 전체 목록과 구조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담당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소프트웨어 구성 개요 — 펌웨어 / 앱 / 웹 / 백엔드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목록표 — F-ID / 모듈명 / 파일 경로 / 역할 / 언어 / 규모 / 담당자 / 관련 REQ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의존 관계도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라이브러리 목록 — 이름 / 버전 / 용도 / 라이선스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디렉터리 구조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270760"/>
          </a:xfrm>
          <a:prstGeom prst="roundRect">
            <a:avLst>
              <a:gd name="adj" fmla="val 362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목록표가 핵심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F-ID와 관련 REQ 열을 반드시 채운다.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두 열이 요구사항 추적표(RTM)의 중간 고리다. 비워두면 “이 요구사항이 어디서 구현됐나”에 답할 수 없다.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상세설계·구현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정의서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ERD의 물리 스키마 버전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알고리즘·데이터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 목록 — T-ID / 테이블명 / 논리명 / 용도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테이블별 컬럼 정의 — 컬럼명 / 논리명 / 타입 / 길이 / NULL / 기본값 / 설명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키·제약 — PK, FK, UNIQUE, CHECK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인덱스 설계 — 조회 패턴 기준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코드 정의 — 세션 상태, 종료 사유, 명령 상태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데이터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정책 — 행 수준 보안 규칙 개요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270760"/>
          </a:xfrm>
          <a:prstGeom prst="roundRect">
            <a:avLst>
              <a:gd name="adj" fmla="val 362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13번과 함께 쓴다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ERD와 테이블 정의서는 목차상 8칸 떨어져 있지만 같은 대상의 개념/물리 버전이다.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따로 쓰면 컬럼이 어긋난다. 반드시 같은 시점에 작성하고 서로 상호참조를 건다.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상세설계·구현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핵심소스코드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핵심이 담긴 코드를 근거와 함께 보인다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담당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발췌 기준 설명 — 무엇을 핵심으로 보았는가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코드별 정리 — 파일 경로 / 관련 F-ID·ALG-ID / 역할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주석을 포함한 코드 본문 / 설명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3444240"/>
          </a:xfrm>
          <a:prstGeom prst="roundRect">
            <a:avLst>
              <a:gd name="adj" fmla="val 2389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발췌 6종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71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버스트 검출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피로도 산출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자극 주기 추정 및 큐 스케줄링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자동 종료 판정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BLE 수신·파싱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원격 중단 수신 처리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코드를 붙이는 것보다 “이 코드가 어떤 ALG의 구현인가”를 표시하는 것이 중요하다.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상세설계·구현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 — 개발 환경 및 설명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사람이 그대로 재현할 수 있게 한다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담당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환경 — OS, IDE, SDK·툴체인 버전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환경 — 대상 기기, 브라우저, 최소 사양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 방법 — 펌웨어 / 앱 / 웹 각각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절차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형상 관리 — 저장소 구조, 브랜치 전략, 커밋 규칙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서비스 설정 — 백엔드 프로젝트 구성, 환경 변수, 키 관리 원칙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실행·테스트 예시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 문헌 및 오픈소스 라이선스 고지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270760"/>
          </a:xfrm>
          <a:prstGeom prst="roundRect">
            <a:avLst>
              <a:gd name="adj" fmla="val 362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키와 토큰은 환경 변수로 분리하고 문서에 실제 값을 넣지 않는다.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문서는 여러 사람이 돌려 본다. 캡처 안에 키가 남는 경우가 가장 흔한 사고다.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상세설계·구현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계획서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어떻게 확인할지 미리 정한다 — 실사 사진은 그 결과물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공동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4, 14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목적 및 범위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환경 — 장비, 대상자, 측정 조건, 데이터셋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항목 분류 — 단위 / 통합 / 시스템 / 성능 / 사용성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케이스 명세 — TC-ID / 대상 REQ / 사전조건 / 절차 / 입력 / 기대 결과 / 판정 기준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요구사항–시험 추적표 — 모든 REQ가 최소 1개 TC로 덮이는지 확인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합격 기준 및 불합격 시 조치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일정과 역할 분담</a:t>
            </a:r>
            <a:endParaRPr lang="en-US" sz="132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기록 양식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3113532"/>
          </a:xfrm>
          <a:prstGeom prst="roundRect">
            <a:avLst>
              <a:gd name="adj" fmla="val 2643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시험 케이스 (안)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2382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과거 세션 재생 시 앱의 피로도가 기준 스크립트 결과와 일치하는가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30분 연속 구동 후 큐–자극 위상 오차 ±100ms 이내인가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자동 종료 3중 조건이 각각 독립 발동하는가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신뢰도 미달 시 게이지 대신 안내로 대체되는가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급등 시 “센서 점검”으로 분기하는가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원격 중단 4단계가 모두 표시되고, 실패 시 로컬 안전장치가 동작하는가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검증·시연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S/W 기능 실사 사진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소프트웨어가 실제로 동작함을 화면으로 보인다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 목록표 — SC-ID / 화면명 / 캡처 파일명 / 관련 TC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화면 캡처 — 연결, 부착 점검, 강도 설정, 동기화, 게임 플레이, 종료 요약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화면 캡처 — 환자 목록, 세션 상세, 라이브 뷰, 원격 중단, 리포트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캡처별 설명 — 어떤 기능이 동작 중이고 어떤 요구사항에 대응하는가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예외 상황 화면 — 신뢰도 미달 안내, 연결 끊김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072640"/>
          </a:xfrm>
          <a:prstGeom prst="roundRect">
            <a:avLst>
              <a:gd name="adj" fmla="val 397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캡처마다 TC 번호를 적는다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사진만 있으면 “찍혔다”는 증거일 뿐이다.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TC 번호를 함께 적어야 “계획대로 확인했고 통과했다”는 증거가 된다.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검증·시연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H/W 기능 실사 사진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하드웨어의 실물과 동작을 보인다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19, 24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시제품 외관 — 정면 / 후면 / 측면, 크기 비교물 포함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내부·PCB 실장 사진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전극 부착 상태 사진 — 자극·계측·기준 전극 위치가 보이게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착용 상태 사진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동작 중 사진 — 전원·연결 LED, 자극 인가 상태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계측 장면 — 신호가 앱에 들어오는 모습 포함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사진별 설명 및 관련 기능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072640"/>
          </a:xfrm>
          <a:prstGeom prst="roundRect">
            <a:avLst>
              <a:gd name="adj" fmla="val 3971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촬영 포인트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크기 비교물(손·자)을 반드시 함께 찍는다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전극 3종의 위치가 구분되게 찍는다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디바이스와 앱 화면이 한 프레임에 들어간 사진을 최소 1장 확보한다 — 연동의 증거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검증·시연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동영상 촬영 콘티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 영상을 찍기 전에 장면을 설계한다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25, 26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기획 — 목적, 총 길이(3~5분), 타깃 시청자, 톤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씬 구성표 — 씬 번호 / 화면 / 촬영 내용 / 나레이션 / 자막 / 소요 시간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촬영 목록 — 장소, 인물, 소품, 필요 장비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녹화 목록 — 앱·웹 각각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편집 지침 — 자막 스타일, BGM, 로고, 인서트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667000"/>
          </a:xfrm>
          <a:prstGeom prst="roundRect">
            <a:avLst>
              <a:gd name="adj" fmla="val 3086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씬 흐름 (안)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935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제기 → 제품 소개 → 착용·연결 → 강도 설정 → 세션 시연 → 피로에 따른 변화 → 치료사 웹 라이브 뷰 → 원격 중단 → 세션 리포트 → 마무리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중요한 컷 — 게임 화면과 실제 손 움직임을 한 화면에 담은 장면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검증·시연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28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8720" y="347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관리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88720" y="8229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굴렸는지를 기록한다 — 마지막에 몰아쓰면 티가 난다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402336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32520" y="402336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  (상시 작성)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32520" y="786384"/>
            <a:ext cx="2999232" cy="310896"/>
          </a:xfrm>
          <a:prstGeom prst="roundRect">
            <a:avLst>
              <a:gd name="adj" fmla="val 50000"/>
            </a:avLst>
          </a:prstGeom>
          <a:solidFill>
            <a:srgbClr val="EEF6F7"/>
          </a:solidFill>
          <a:ln w="12700">
            <a:solidFill>
              <a:srgbClr val="EE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 </a:t>
            </a:r>
            <a:pPr algn="ctr" indent="0" marL="0">
              <a:buNone/>
            </a:pPr>
            <a:r>
              <a:rPr lang="en-US" sz="950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 항목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체계 — 팀 구성, 역할 분담(R&amp;R)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 및 일정 계획 대비 실적 (간트)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마일스톤 관리 — 요구사항 동결 / 설계 동결 / 통합 / 제출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— 일시, 참석자, 안건, 결정 사항, 후속 조치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이슈·리스크 관리 대장 — 리스크 / 영향도 / 대응 방안 / 상태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문서·형상 관리 현황 — 28개 산출물의 버전과 상태</a:t>
            </a:r>
            <a:endParaRPr lang="en-US" sz="142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42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 — 고도화 방향, 인허가 검토 로드맵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315200" y="1389888"/>
            <a:ext cx="4416552" cy="2604516"/>
          </a:xfrm>
          <a:prstGeom prst="roundRect">
            <a:avLst>
              <a:gd name="adj" fmla="val 3160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591056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등록해야 할 주요 리스크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1956816"/>
            <a:ext cx="3867912" cy="1872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위상 드리프트 — 디바이스와 앱의 시계가 독립이라 큐와 실제 수축이 서서히 어긋난다. 게임은 정상 작동하는데 효과만 사라지는 무증상 실패. 최우선.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회복 검증 미완 — “피로도” 표기의 근거 부족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신호 품질 의존 — 부착 점검과 강도 설정이 기능의 절반</a:t>
            </a:r>
            <a:endParaRPr lang="en-US" sz="108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8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대상자 섭외 지연 — 요구사항 동결이 함께 밀림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관리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0" y="6355080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28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 순서와 싱크포인트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번호 순서와 집필 순서는 다르다. 세 트랙이 병렬로 가되 두 지점에서 반드시 모인다.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— 병렬 착수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01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 — 제품·서비스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서비스 구성도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서비스 흐름도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유즈케이스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요구사항(초안)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설문·인터뷰 섭외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664208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01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알고리즘·데이터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121408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알고리즘 정의서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데이터 수집처리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알고리즘 명세서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상세 설명서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84464" y="1664208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1801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85632" y="2121408"/>
            <a:ext cx="3291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하드웨어 구성도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설계도 착수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(회로·BOM)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04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싱크포인트 1   ·   9번 인터페이스 정의서 확정 — 셋이 각자 절반씩 채워와 합친다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— 병렬 계속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53712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645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49194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UI/UX → 11 메뉴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화면(와이어 1차)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4553712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645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알고리즘·데이터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9194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ERD → 21 테이블 정의서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84464" y="4553712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EEF6F7"/>
          </a:solidFill>
          <a:ln w="12700">
            <a:solidFill>
              <a:srgbClr val="D5E7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4645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85632" y="49194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완성 + 시제품 제작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705856"/>
            <a:ext cx="11274552" cy="566928"/>
          </a:xfrm>
          <a:prstGeom prst="roundRect">
            <a:avLst>
              <a:gd name="adj" fmla="val 16129"/>
            </a:avLst>
          </a:prstGeom>
          <a:solidFill>
            <a:srgbClr val="0A3A45"/>
          </a:solidFill>
          <a:ln w="12700">
            <a:solidFill>
              <a:srgbClr val="0A3A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7058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싱크포인트 2   ·   13번 ERD 반영해 12번 화면 설계서 확정 = 설계 동결   →   3차 구현 → 4차 검증·시연 → 28 관리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RE-FIT 산출물 28종 작성 항목 정의</dc:title>
  <dc:subject>PptxGenJS Presentation</dc:subject>
  <dc:creator>RE-FIT</dc:creator>
  <cp:lastModifiedBy>RE-FIT</cp:lastModifiedBy>
  <cp:revision>1</cp:revision>
  <dcterms:created xsi:type="dcterms:W3CDTF">2026-08-20T08:40:54Z</dcterms:created>
  <dcterms:modified xsi:type="dcterms:W3CDTF">2026-08-20T08:40:54Z</dcterms:modified>
</cp:coreProperties>
</file>